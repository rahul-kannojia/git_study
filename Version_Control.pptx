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69" r:id="rId3"/>
    <p:sldId id="266" r:id="rId4"/>
    <p:sldId id="272" r:id="rId5"/>
    <p:sldId id="270" r:id="rId6"/>
    <p:sldId id="273" r:id="rId7"/>
    <p:sldId id="271" r:id="rId8"/>
    <p:sldId id="274" r:id="rId9"/>
    <p:sldId id="276" r:id="rId10"/>
    <p:sldId id="277" r:id="rId11"/>
    <p:sldId id="275" r:id="rId12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2" roundtripDataSignature="AMtx7mhYS2KRvD9BOosFQiiJGD2LWkUk2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8" d="100"/>
          <a:sy n="128" d="100"/>
        </p:scale>
        <p:origin x="318" y="45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2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38930565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1302033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2032111901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99" name="Google Shape;199;g2032111901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4237756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2032111901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99" name="Google Shape;199;g2032111901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0064594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2032111901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99" name="Google Shape;199;g2032111901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9736247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2032111901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99" name="Google Shape;199;g2032111901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3771482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2032111901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99" name="Google Shape;199;g2032111901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4041734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2032111901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99" name="Google Shape;199;g2032111901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2677095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2032111901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99" name="Google Shape;199;g2032111901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9976027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2032111901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99" name="Google Shape;199;g2032111901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54492024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2032111901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99" name="Google Shape;199;g2032111901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45471355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2032111901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99" name="Google Shape;199;g2032111901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3579878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94"/>
          <p:cNvSpPr txBox="1"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94"/>
          <p:cNvSpPr txBox="1"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9" name="Google Shape;19;p94"/>
          <p:cNvSpPr txBox="1">
            <a:spLocks noGrp="1"/>
          </p:cNvSpPr>
          <p:nvPr>
            <p:ph type="sldNum" idx="12"/>
          </p:nvPr>
        </p:nvSpPr>
        <p:spPr>
          <a:xfrm>
            <a:off x="8610600" y="4850606"/>
            <a:ext cx="3810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95"/>
          <p:cNvSpPr txBox="1">
            <a:spLocks noGrp="1"/>
          </p:cNvSpPr>
          <p:nvPr>
            <p:ph type="title"/>
          </p:nvPr>
        </p:nvSpPr>
        <p:spPr>
          <a:xfrm>
            <a:off x="457200" y="133350"/>
            <a:ext cx="5029200" cy="4607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95"/>
          <p:cNvSpPr txBox="1"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" name="Google Shape;23;p95"/>
          <p:cNvSpPr txBox="1">
            <a:spLocks noGrp="1"/>
          </p:cNvSpPr>
          <p:nvPr>
            <p:ph type="sldNum" idx="12"/>
          </p:nvPr>
        </p:nvSpPr>
        <p:spPr>
          <a:xfrm>
            <a:off x="8458200" y="4850606"/>
            <a:ext cx="533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" name="Google Shape;24;p95"/>
          <p:cNvSpPr/>
          <p:nvPr/>
        </p:nvSpPr>
        <p:spPr>
          <a:xfrm>
            <a:off x="0" y="666750"/>
            <a:ext cx="9144000" cy="45719"/>
          </a:xfrm>
          <a:prstGeom prst="rect">
            <a:avLst/>
          </a:prstGeom>
          <a:solidFill>
            <a:srgbClr val="E36C0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" name="Google Shape;25;p9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934200" y="116292"/>
            <a:ext cx="1981200" cy="5125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96"/>
          <p:cNvSpPr txBox="1"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96"/>
          <p:cNvSpPr txBox="1"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9" name="Google Shape;29;p96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0" name="Google Shape;30;p96"/>
          <p:cNvSpPr txBox="1">
            <a:spLocks noGrp="1"/>
          </p:cNvSpPr>
          <p:nvPr>
            <p:ph type="ftr" idx="11"/>
          </p:nvPr>
        </p:nvSpPr>
        <p:spPr>
          <a:xfrm>
            <a:off x="3810000" y="4869656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96"/>
          <p:cNvSpPr txBox="1">
            <a:spLocks noGrp="1"/>
          </p:cNvSpPr>
          <p:nvPr>
            <p:ph type="sldNum" idx="12"/>
          </p:nvPr>
        </p:nvSpPr>
        <p:spPr>
          <a:xfrm>
            <a:off x="8610600" y="4850606"/>
            <a:ext cx="3810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97"/>
          <p:cNvSpPr txBox="1"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97"/>
          <p:cNvSpPr txBox="1">
            <a:spLocks noGrp="1"/>
          </p:cNvSpPr>
          <p:nvPr>
            <p:ph type="body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5" name="Google Shape;35;p97"/>
          <p:cNvSpPr txBox="1">
            <a:spLocks noGrp="1"/>
          </p:cNvSpPr>
          <p:nvPr>
            <p:ph type="body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97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7" name="Google Shape;37;p97"/>
          <p:cNvSpPr txBox="1">
            <a:spLocks noGrp="1"/>
          </p:cNvSpPr>
          <p:nvPr>
            <p:ph type="ftr" idx="11"/>
          </p:nvPr>
        </p:nvSpPr>
        <p:spPr>
          <a:xfrm>
            <a:off x="3810000" y="4869656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97"/>
          <p:cNvSpPr txBox="1">
            <a:spLocks noGrp="1"/>
          </p:cNvSpPr>
          <p:nvPr>
            <p:ph type="sldNum" idx="12"/>
          </p:nvPr>
        </p:nvSpPr>
        <p:spPr>
          <a:xfrm>
            <a:off x="8610600" y="4850606"/>
            <a:ext cx="3810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8"/>
          <p:cNvSpPr txBox="1"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98"/>
          <p:cNvSpPr txBox="1"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2" name="Google Shape;42;p98"/>
          <p:cNvSpPr txBox="1">
            <a:spLocks noGrp="1"/>
          </p:cNvSpPr>
          <p:nvPr>
            <p:ph type="body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3" name="Google Shape;43;p98"/>
          <p:cNvSpPr txBox="1">
            <a:spLocks noGrp="1"/>
          </p:cNvSpPr>
          <p:nvPr>
            <p:ph type="body" idx="3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4" name="Google Shape;44;p98"/>
          <p:cNvSpPr txBox="1">
            <a:spLocks noGrp="1"/>
          </p:cNvSpPr>
          <p:nvPr>
            <p:ph type="body" idx="4"/>
          </p:nvPr>
        </p:nvSpPr>
        <p:spPr>
          <a:xfrm>
            <a:off x="4645026" y="1631156"/>
            <a:ext cx="4041775" cy="2963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5" name="Google Shape;45;p98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6" name="Google Shape;46;p98"/>
          <p:cNvSpPr txBox="1">
            <a:spLocks noGrp="1"/>
          </p:cNvSpPr>
          <p:nvPr>
            <p:ph type="ftr" idx="11"/>
          </p:nvPr>
        </p:nvSpPr>
        <p:spPr>
          <a:xfrm>
            <a:off x="3810000" y="4869656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98"/>
          <p:cNvSpPr txBox="1">
            <a:spLocks noGrp="1"/>
          </p:cNvSpPr>
          <p:nvPr>
            <p:ph type="sldNum" idx="12"/>
          </p:nvPr>
        </p:nvSpPr>
        <p:spPr>
          <a:xfrm>
            <a:off x="8610600" y="4850606"/>
            <a:ext cx="3810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9"/>
          <p:cNvSpPr txBox="1"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99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1" name="Google Shape;51;p99"/>
          <p:cNvSpPr txBox="1">
            <a:spLocks noGrp="1"/>
          </p:cNvSpPr>
          <p:nvPr>
            <p:ph type="ftr" idx="11"/>
          </p:nvPr>
        </p:nvSpPr>
        <p:spPr>
          <a:xfrm>
            <a:off x="3810000" y="4869656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99"/>
          <p:cNvSpPr txBox="1">
            <a:spLocks noGrp="1"/>
          </p:cNvSpPr>
          <p:nvPr>
            <p:ph type="sldNum" idx="12"/>
          </p:nvPr>
        </p:nvSpPr>
        <p:spPr>
          <a:xfrm>
            <a:off x="8610600" y="4850606"/>
            <a:ext cx="3810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0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5" name="Google Shape;55;p100"/>
          <p:cNvSpPr txBox="1">
            <a:spLocks noGrp="1"/>
          </p:cNvSpPr>
          <p:nvPr>
            <p:ph type="ftr" idx="11"/>
          </p:nvPr>
        </p:nvSpPr>
        <p:spPr>
          <a:xfrm>
            <a:off x="3810000" y="4869656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00"/>
          <p:cNvSpPr txBox="1">
            <a:spLocks noGrp="1"/>
          </p:cNvSpPr>
          <p:nvPr>
            <p:ph type="sldNum" idx="12"/>
          </p:nvPr>
        </p:nvSpPr>
        <p:spPr>
          <a:xfrm>
            <a:off x="8610600" y="4850606"/>
            <a:ext cx="3810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01"/>
          <p:cNvSpPr txBox="1"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01"/>
          <p:cNvSpPr txBox="1">
            <a:spLocks noGrp="1"/>
          </p:cNvSpPr>
          <p:nvPr>
            <p:ph type="body" idx="1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0" name="Google Shape;60;p101"/>
          <p:cNvSpPr txBox="1">
            <a:spLocks noGrp="1"/>
          </p:cNvSpPr>
          <p:nvPr>
            <p:ph type="body" idx="2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1" name="Google Shape;61;p101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2" name="Google Shape;62;p101"/>
          <p:cNvSpPr txBox="1">
            <a:spLocks noGrp="1"/>
          </p:cNvSpPr>
          <p:nvPr>
            <p:ph type="ftr" idx="11"/>
          </p:nvPr>
        </p:nvSpPr>
        <p:spPr>
          <a:xfrm>
            <a:off x="3810000" y="4869656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1"/>
          <p:cNvSpPr txBox="1">
            <a:spLocks noGrp="1"/>
          </p:cNvSpPr>
          <p:nvPr>
            <p:ph type="sldNum" idx="12"/>
          </p:nvPr>
        </p:nvSpPr>
        <p:spPr>
          <a:xfrm>
            <a:off x="8610600" y="4850606"/>
            <a:ext cx="3810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2"/>
          <p:cNvSpPr txBox="1"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2"/>
          <p:cNvSpPr>
            <a:spLocks noGrp="1"/>
          </p:cNvSpPr>
          <p:nvPr>
            <p:ph type="pic" idx="2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102"/>
          <p:cNvSpPr txBox="1">
            <a:spLocks noGrp="1"/>
          </p:cNvSpPr>
          <p:nvPr>
            <p:ph type="body" idx="1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8" name="Google Shape;68;p102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9" name="Google Shape;69;p102"/>
          <p:cNvSpPr txBox="1">
            <a:spLocks noGrp="1"/>
          </p:cNvSpPr>
          <p:nvPr>
            <p:ph type="ftr" idx="11"/>
          </p:nvPr>
        </p:nvSpPr>
        <p:spPr>
          <a:xfrm>
            <a:off x="3810000" y="4869656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2"/>
          <p:cNvSpPr txBox="1">
            <a:spLocks noGrp="1"/>
          </p:cNvSpPr>
          <p:nvPr>
            <p:ph type="sldNum" idx="12"/>
          </p:nvPr>
        </p:nvSpPr>
        <p:spPr>
          <a:xfrm>
            <a:off x="8610600" y="4850606"/>
            <a:ext cx="3810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03"/>
          <p:cNvSpPr txBox="1"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03"/>
          <p:cNvSpPr txBox="1">
            <a:spLocks noGrp="1"/>
          </p:cNvSpPr>
          <p:nvPr>
            <p:ph type="body" idx="1"/>
          </p:nvPr>
        </p:nvSpPr>
        <p:spPr>
          <a:xfrm rot="5400000">
            <a:off x="2874764" y="-1217413"/>
            <a:ext cx="3394472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103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5" name="Google Shape;75;p103"/>
          <p:cNvSpPr txBox="1">
            <a:spLocks noGrp="1"/>
          </p:cNvSpPr>
          <p:nvPr>
            <p:ph type="ftr" idx="11"/>
          </p:nvPr>
        </p:nvSpPr>
        <p:spPr>
          <a:xfrm>
            <a:off x="3810000" y="4869656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03"/>
          <p:cNvSpPr txBox="1">
            <a:spLocks noGrp="1"/>
          </p:cNvSpPr>
          <p:nvPr>
            <p:ph type="sldNum" idx="12"/>
          </p:nvPr>
        </p:nvSpPr>
        <p:spPr>
          <a:xfrm>
            <a:off x="8610600" y="4850606"/>
            <a:ext cx="3810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04"/>
          <p:cNvSpPr txBox="1">
            <a:spLocks noGrp="1"/>
          </p:cNvSpPr>
          <p:nvPr>
            <p:ph type="title"/>
          </p:nvPr>
        </p:nvSpPr>
        <p:spPr>
          <a:xfrm rot="5400000">
            <a:off x="5463778" y="1371601"/>
            <a:ext cx="4388644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04"/>
          <p:cNvSpPr txBox="1">
            <a:spLocks noGrp="1"/>
          </p:cNvSpPr>
          <p:nvPr>
            <p:ph type="body" idx="1"/>
          </p:nvPr>
        </p:nvSpPr>
        <p:spPr>
          <a:xfrm rot="5400000">
            <a:off x="1272778" y="-609599"/>
            <a:ext cx="4388644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" name="Google Shape;80;p104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1" name="Google Shape;81;p104"/>
          <p:cNvSpPr txBox="1">
            <a:spLocks noGrp="1"/>
          </p:cNvSpPr>
          <p:nvPr>
            <p:ph type="ftr" idx="11"/>
          </p:nvPr>
        </p:nvSpPr>
        <p:spPr>
          <a:xfrm>
            <a:off x="3810000" y="4869656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04"/>
          <p:cNvSpPr txBox="1">
            <a:spLocks noGrp="1"/>
          </p:cNvSpPr>
          <p:nvPr>
            <p:ph type="sldNum" idx="12"/>
          </p:nvPr>
        </p:nvSpPr>
        <p:spPr>
          <a:xfrm>
            <a:off x="8610600" y="4850606"/>
            <a:ext cx="3810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93"/>
          <p:cNvSpPr/>
          <p:nvPr/>
        </p:nvSpPr>
        <p:spPr>
          <a:xfrm>
            <a:off x="0" y="4888706"/>
            <a:ext cx="9144000" cy="254794"/>
          </a:xfrm>
          <a:prstGeom prst="rect">
            <a:avLst/>
          </a:prstGeom>
          <a:solidFill>
            <a:srgbClr val="538CD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11;p93"/>
          <p:cNvSpPr txBox="1"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93"/>
          <p:cNvSpPr txBox="1"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93"/>
          <p:cNvSpPr txBox="1">
            <a:spLocks noGrp="1"/>
          </p:cNvSpPr>
          <p:nvPr>
            <p:ph type="sldNum" idx="12"/>
          </p:nvPr>
        </p:nvSpPr>
        <p:spPr>
          <a:xfrm>
            <a:off x="8610600" y="4850606"/>
            <a:ext cx="3810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  <p:sp>
        <p:nvSpPr>
          <p:cNvPr id="14" name="Google Shape;14;p93"/>
          <p:cNvSpPr txBox="1"/>
          <p:nvPr/>
        </p:nvSpPr>
        <p:spPr>
          <a:xfrm>
            <a:off x="0" y="4869656"/>
            <a:ext cx="38862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© 2018  </a:t>
            </a:r>
            <a:r>
              <a:rPr lang="en-US" sz="1000" b="1" i="0" u="none" strike="noStrike" cap="none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DataMites</a:t>
            </a:r>
            <a:r>
              <a:rPr lang="en-US" sz="10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™. All Rights Reserved | www.datamites.com</a:t>
            </a:r>
            <a:endParaRPr sz="1000" b="1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93"/>
          <p:cNvSpPr txBox="1">
            <a:spLocks noGrp="1"/>
          </p:cNvSpPr>
          <p:nvPr>
            <p:ph type="ftr" idx="11"/>
          </p:nvPr>
        </p:nvSpPr>
        <p:spPr>
          <a:xfrm>
            <a:off x="3810000" y="4869656"/>
            <a:ext cx="41148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jpg"/><Relationship Id="rId4" Type="http://schemas.openxmlformats.org/officeDocument/2006/relationships/image" Target="../media/image4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"/>
          <p:cNvSpPr txBox="1">
            <a:spLocks noGrp="1"/>
          </p:cNvSpPr>
          <p:nvPr>
            <p:ph type="ftr" idx="4294967295"/>
          </p:nvPr>
        </p:nvSpPr>
        <p:spPr>
          <a:xfrm>
            <a:off x="3810000" y="4869656"/>
            <a:ext cx="41148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>
              <a:buSzPts val="2800"/>
            </a:pPr>
            <a:r>
              <a:rPr lang="en-IN" b="0" dirty="0">
                <a:solidFill>
                  <a:schemeClr val="bg1"/>
                </a:solidFill>
              </a:rPr>
              <a:t>VERSION CONTROL WITH GIT </a:t>
            </a:r>
          </a:p>
        </p:txBody>
      </p:sp>
      <p:sp>
        <p:nvSpPr>
          <p:cNvPr id="88" name="Google Shape;88;p1"/>
          <p:cNvSpPr txBox="1">
            <a:spLocks noGrp="1"/>
          </p:cNvSpPr>
          <p:nvPr>
            <p:ph type="sldNum" idx="12"/>
          </p:nvPr>
        </p:nvSpPr>
        <p:spPr>
          <a:xfrm>
            <a:off x="8610600" y="4850606"/>
            <a:ext cx="3810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en-US"/>
              <a:t>1</a:t>
            </a:fld>
            <a:endParaRPr dirty="0"/>
          </a:p>
        </p:txBody>
      </p:sp>
      <p:sp>
        <p:nvSpPr>
          <p:cNvPr id="89" name="Google Shape;89;p1"/>
          <p:cNvSpPr txBox="1"/>
          <p:nvPr/>
        </p:nvSpPr>
        <p:spPr>
          <a:xfrm>
            <a:off x="991798" y="1075420"/>
            <a:ext cx="6933002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IN" sz="4000" b="0" i="0" u="none" strike="noStrike" cap="none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VERSION CONTROL WITH GIT </a:t>
            </a:r>
            <a:endParaRPr sz="4000" b="0" i="0" u="none" strike="noStrike" cap="none" dirty="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0" name="Google Shape;90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34200" y="116292"/>
            <a:ext cx="1981200" cy="51256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1" name="Google Shape;91;p1"/>
          <p:cNvGrpSpPr/>
          <p:nvPr/>
        </p:nvGrpSpPr>
        <p:grpSpPr>
          <a:xfrm>
            <a:off x="39452" y="4887289"/>
            <a:ext cx="987893" cy="206033"/>
            <a:chOff x="-906263" y="5006359"/>
            <a:chExt cx="987893" cy="206033"/>
          </a:xfrm>
        </p:grpSpPr>
        <p:pic>
          <p:nvPicPr>
            <p:cNvPr id="92" name="Google Shape;92;p1" descr="C:\Users\DMS19\Pictures\blue line .png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-561584" y="5039485"/>
              <a:ext cx="298538" cy="17290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3" name="Google Shape;93;p1"/>
            <p:cNvSpPr txBox="1"/>
            <p:nvPr/>
          </p:nvSpPr>
          <p:spPr>
            <a:xfrm>
              <a:off x="-906263" y="5006359"/>
              <a:ext cx="987893" cy="5817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000" b="1" i="0" u="none" strike="noStrike" cap="none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2023</a:t>
              </a:r>
              <a:endParaRPr sz="10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94" name="Google Shape;94;p1"/>
          <p:cNvPicPr preferRelativeResize="0"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5337" y="2229825"/>
            <a:ext cx="1771650" cy="1771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20321119012_0_0"/>
          <p:cNvSpPr txBox="1">
            <a:spLocks noGrp="1"/>
          </p:cNvSpPr>
          <p:nvPr>
            <p:ph type="sldNum" idx="12"/>
          </p:nvPr>
        </p:nvSpPr>
        <p:spPr>
          <a:xfrm>
            <a:off x="8458200" y="4850606"/>
            <a:ext cx="533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en-US"/>
              <a:t>2</a:t>
            </a:fld>
            <a:endParaRPr dirty="0"/>
          </a:p>
        </p:txBody>
      </p:sp>
      <p:grpSp>
        <p:nvGrpSpPr>
          <p:cNvPr id="202" name="Google Shape;202;g20321119012_0_0"/>
          <p:cNvGrpSpPr/>
          <p:nvPr/>
        </p:nvGrpSpPr>
        <p:grpSpPr>
          <a:xfrm>
            <a:off x="39452" y="4887289"/>
            <a:ext cx="987900" cy="220441"/>
            <a:chOff x="-906263" y="4991951"/>
            <a:chExt cx="987900" cy="220441"/>
          </a:xfrm>
        </p:grpSpPr>
        <p:pic>
          <p:nvPicPr>
            <p:cNvPr id="203" name="Google Shape;203;g20321119012_0_0" descr="C:\Users\DMS19\Pictures\blue line .png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-561584" y="5039485"/>
              <a:ext cx="298538" cy="17290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4" name="Google Shape;204;g20321119012_0_0"/>
            <p:cNvSpPr txBox="1"/>
            <p:nvPr/>
          </p:nvSpPr>
          <p:spPr>
            <a:xfrm>
              <a:off x="-906263" y="4991951"/>
              <a:ext cx="987900" cy="58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000" b="1" i="0" u="none" strike="noStrike" cap="none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2023</a:t>
              </a:r>
              <a:endParaRPr sz="10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5" name="Google Shape;205;g20321119012_0_0"/>
          <p:cNvSpPr txBox="1"/>
          <p:nvPr/>
        </p:nvSpPr>
        <p:spPr>
          <a:xfrm>
            <a:off x="4688083" y="4869600"/>
            <a:ext cx="41148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>
              <a:buSzPts val="2800"/>
            </a:pPr>
            <a:r>
              <a:rPr lang="en-IN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VERSION CONTROL WITH GIT </a:t>
            </a:r>
          </a:p>
        </p:txBody>
      </p:sp>
      <p:sp>
        <p:nvSpPr>
          <p:cNvPr id="206" name="Google Shape;206;g20321119012_0_0"/>
          <p:cNvSpPr txBox="1">
            <a:spLocks noGrp="1"/>
          </p:cNvSpPr>
          <p:nvPr>
            <p:ph type="body" idx="1"/>
          </p:nvPr>
        </p:nvSpPr>
        <p:spPr>
          <a:xfrm>
            <a:off x="-1" y="755374"/>
            <a:ext cx="9088341" cy="4131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514350" indent="-285750" algn="just">
              <a:buFont typeface="Arial" panose="020B0604020202020204" pitchFamily="34" charset="0"/>
              <a:buChar char="•"/>
            </a:pPr>
            <a:r>
              <a:rPr lang="en-US" sz="1800" b="1" dirty="0"/>
              <a:t>History Tracking:</a:t>
            </a:r>
            <a:r>
              <a:rPr lang="en-US" sz="1800" dirty="0"/>
              <a:t> Maintain a record of changes made to a project, including who made them, when, and what changed i.e., Traceability.</a:t>
            </a:r>
            <a:r>
              <a:rPr lang="en-IN" sz="1800" dirty="0"/>
              <a:t>Collaborate with others and helps in reviewing the code.</a:t>
            </a:r>
          </a:p>
          <a:p>
            <a:pPr marL="514350" indent="-285750" algn="just">
              <a:buFont typeface="Arial" panose="020B0604020202020204" pitchFamily="34" charset="0"/>
              <a:buChar char="•"/>
            </a:pPr>
            <a:r>
              <a:rPr lang="en-US" sz="1800" b="1" dirty="0"/>
              <a:t>Collaboration:</a:t>
            </a:r>
            <a:r>
              <a:rPr lang="en-US" sz="1800" dirty="0"/>
              <a:t> Enable multiple developers to work on a project simultaneously, coordinating efforts and avoiding conflicts.</a:t>
            </a:r>
          </a:p>
          <a:p>
            <a:pPr marL="514350" indent="-285750" algn="just">
              <a:buFont typeface="Arial" panose="020B0604020202020204" pitchFamily="34" charset="0"/>
              <a:buChar char="•"/>
            </a:pPr>
            <a:r>
              <a:rPr lang="en-US" sz="1800" b="1" dirty="0"/>
              <a:t>Code Backup: </a:t>
            </a:r>
            <a:r>
              <a:rPr lang="en-US" sz="1800" dirty="0"/>
              <a:t>Provide secure backups of project files to prevent data loss.</a:t>
            </a:r>
            <a:endParaRPr lang="en-US" sz="1800" b="1" dirty="0"/>
          </a:p>
          <a:p>
            <a:pPr marL="514350" indent="-285750" algn="just">
              <a:buFont typeface="Arial" panose="020B0604020202020204" pitchFamily="34" charset="0"/>
              <a:buChar char="•"/>
            </a:pPr>
            <a:r>
              <a:rPr lang="en-US" sz="1800" b="1" dirty="0"/>
              <a:t>Feature Development:</a:t>
            </a:r>
            <a:r>
              <a:rPr lang="en-US" sz="1800" dirty="0"/>
              <a:t> Allow for the development of new features without impacting the main project.</a:t>
            </a:r>
          </a:p>
          <a:p>
            <a:r>
              <a:rPr lang="en-US" sz="1800" b="1" dirty="0"/>
              <a:t>Code Review</a:t>
            </a:r>
            <a:r>
              <a:rPr lang="en-US" sz="1800" dirty="0"/>
              <a:t>: Facilitate peer code review to ensure code quality and identify issues early.</a:t>
            </a:r>
          </a:p>
          <a:p>
            <a:pPr marL="114300" indent="0">
              <a:buNone/>
            </a:pPr>
            <a:br>
              <a:rPr lang="en-US" sz="1800" dirty="0"/>
            </a:br>
            <a:endParaRPr sz="1800" dirty="0"/>
          </a:p>
        </p:txBody>
      </p:sp>
      <p:sp>
        <p:nvSpPr>
          <p:cNvPr id="207" name="Google Shape;207;g20321119012_0_0"/>
          <p:cNvSpPr txBox="1"/>
          <p:nvPr/>
        </p:nvSpPr>
        <p:spPr>
          <a:xfrm>
            <a:off x="533400" y="133350"/>
            <a:ext cx="7146000" cy="4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200"/>
              <a:buFont typeface="Calibri"/>
              <a:buNone/>
            </a:pPr>
            <a:r>
              <a:rPr lang="en-IN" sz="2800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PURPOSE OF VERSION CONTROL</a:t>
            </a:r>
            <a:endParaRPr sz="2800" b="0" i="0" u="none" strike="noStrike" cap="none" dirty="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120535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20321119012_0_0"/>
          <p:cNvSpPr txBox="1">
            <a:spLocks noGrp="1"/>
          </p:cNvSpPr>
          <p:nvPr>
            <p:ph type="sldNum" idx="12"/>
          </p:nvPr>
        </p:nvSpPr>
        <p:spPr>
          <a:xfrm>
            <a:off x="8458200" y="4850606"/>
            <a:ext cx="533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en-US"/>
              <a:t>3</a:t>
            </a:fld>
            <a:endParaRPr dirty="0"/>
          </a:p>
        </p:txBody>
      </p:sp>
      <p:grpSp>
        <p:nvGrpSpPr>
          <p:cNvPr id="202" name="Google Shape;202;g20321119012_0_0"/>
          <p:cNvGrpSpPr/>
          <p:nvPr/>
        </p:nvGrpSpPr>
        <p:grpSpPr>
          <a:xfrm>
            <a:off x="39452" y="4887289"/>
            <a:ext cx="987900" cy="220441"/>
            <a:chOff x="-906263" y="4991951"/>
            <a:chExt cx="987900" cy="220441"/>
          </a:xfrm>
        </p:grpSpPr>
        <p:pic>
          <p:nvPicPr>
            <p:cNvPr id="203" name="Google Shape;203;g20321119012_0_0" descr="C:\Users\DMS19\Pictures\blue line .png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-561584" y="5039485"/>
              <a:ext cx="298538" cy="17290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4" name="Google Shape;204;g20321119012_0_0"/>
            <p:cNvSpPr txBox="1"/>
            <p:nvPr/>
          </p:nvSpPr>
          <p:spPr>
            <a:xfrm>
              <a:off x="-906263" y="4991951"/>
              <a:ext cx="987900" cy="58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000" b="1" i="0" u="none" strike="noStrike" cap="none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2023</a:t>
              </a:r>
              <a:endParaRPr sz="10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5" name="Google Shape;205;g20321119012_0_0"/>
          <p:cNvSpPr txBox="1"/>
          <p:nvPr/>
        </p:nvSpPr>
        <p:spPr>
          <a:xfrm>
            <a:off x="4688083" y="4869600"/>
            <a:ext cx="41148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>
              <a:buSzPts val="2800"/>
            </a:pPr>
            <a:r>
              <a:rPr lang="en-IN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VERSION CONTROL WITH GIT </a:t>
            </a:r>
          </a:p>
        </p:txBody>
      </p:sp>
      <p:sp>
        <p:nvSpPr>
          <p:cNvPr id="206" name="Google Shape;206;g20321119012_0_0"/>
          <p:cNvSpPr txBox="1">
            <a:spLocks noGrp="1"/>
          </p:cNvSpPr>
          <p:nvPr>
            <p:ph type="body" idx="1"/>
          </p:nvPr>
        </p:nvSpPr>
        <p:spPr>
          <a:xfrm>
            <a:off x="39452" y="726831"/>
            <a:ext cx="8952148" cy="41604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514350" indent="-285750" algn="just">
              <a:buFont typeface="Arial" panose="020B0604020202020204" pitchFamily="34" charset="0"/>
              <a:buChar char="•"/>
            </a:pPr>
            <a:r>
              <a:rPr lang="en-US" sz="2000" dirty="0"/>
              <a:t>Git is a source code management software.</a:t>
            </a:r>
          </a:p>
          <a:p>
            <a:pPr marL="514350" indent="-285750" algn="just">
              <a:buFont typeface="Arial" panose="020B0604020202020204" pitchFamily="34" charset="0"/>
              <a:buChar char="•"/>
            </a:pPr>
            <a:r>
              <a:rPr lang="en-US" sz="2000" dirty="0"/>
              <a:t>Git is a command-line tool i.e., A software which is maintained by Linux.</a:t>
            </a:r>
          </a:p>
          <a:p>
            <a:pPr marL="514350" indent="-285750" algn="just">
              <a:buFont typeface="Arial" panose="020B0604020202020204" pitchFamily="34" charset="0"/>
              <a:buChar char="•"/>
            </a:pPr>
            <a:r>
              <a:rPr lang="en-US" sz="2000" dirty="0"/>
              <a:t>Git is Software but </a:t>
            </a:r>
            <a:r>
              <a:rPr lang="en-US" sz="2000" dirty="0" err="1"/>
              <a:t>Github</a:t>
            </a:r>
            <a:r>
              <a:rPr lang="en-US" sz="2000" dirty="0"/>
              <a:t>, </a:t>
            </a:r>
            <a:r>
              <a:rPr lang="en-US" sz="2000" dirty="0" err="1"/>
              <a:t>Gitlab</a:t>
            </a:r>
            <a:r>
              <a:rPr lang="en-US" sz="2000" dirty="0"/>
              <a:t>, </a:t>
            </a:r>
            <a:r>
              <a:rPr lang="en-US" sz="2000" dirty="0" err="1"/>
              <a:t>Bitbucket</a:t>
            </a:r>
            <a:r>
              <a:rPr lang="en-US" sz="2000" dirty="0"/>
              <a:t>, etc…are all Services.</a:t>
            </a:r>
          </a:p>
          <a:p>
            <a:pPr marL="514350" indent="-285750" algn="just">
              <a:buFont typeface="Arial" panose="020B0604020202020204" pitchFamily="34" charset="0"/>
              <a:buChar char="•"/>
            </a:pPr>
            <a:r>
              <a:rPr lang="en-US" sz="2000" dirty="0"/>
              <a:t>It is </a:t>
            </a:r>
            <a:r>
              <a:rPr lang="en-US" sz="2000" b="1" dirty="0"/>
              <a:t>Distributed </a:t>
            </a:r>
            <a:r>
              <a:rPr lang="en-US" sz="2000" dirty="0"/>
              <a:t>version control system, meaning that each user has a copy of the entire project history on their local machine.</a:t>
            </a:r>
          </a:p>
          <a:p>
            <a:pPr marL="514350" indent="-285750" algn="just">
              <a:buFont typeface="Arial" panose="020B0604020202020204" pitchFamily="34" charset="0"/>
              <a:buChar char="•"/>
            </a:pPr>
            <a:endParaRPr sz="2400" dirty="0"/>
          </a:p>
        </p:txBody>
      </p:sp>
      <p:sp>
        <p:nvSpPr>
          <p:cNvPr id="207" name="Google Shape;207;g20321119012_0_0"/>
          <p:cNvSpPr txBox="1"/>
          <p:nvPr/>
        </p:nvSpPr>
        <p:spPr>
          <a:xfrm>
            <a:off x="533400" y="133350"/>
            <a:ext cx="7146000" cy="4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200"/>
              <a:buFont typeface="Calibri"/>
              <a:buNone/>
            </a:pPr>
            <a:r>
              <a:rPr lang="en-IN" sz="2800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GIT INTRODUCTION</a:t>
            </a:r>
            <a:endParaRPr sz="2800" b="0" i="0" u="none" strike="noStrike" cap="none" dirty="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2689198"/>
            <a:ext cx="4157784" cy="2114062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28" t="11014" r="-228" b="9767"/>
          <a:stretch/>
        </p:blipFill>
        <p:spPr>
          <a:xfrm>
            <a:off x="4688082" y="2689198"/>
            <a:ext cx="4303517" cy="2196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20321119012_0_0"/>
          <p:cNvSpPr txBox="1">
            <a:spLocks noGrp="1"/>
          </p:cNvSpPr>
          <p:nvPr>
            <p:ph type="sldNum" idx="12"/>
          </p:nvPr>
        </p:nvSpPr>
        <p:spPr>
          <a:xfrm>
            <a:off x="8458200" y="4850606"/>
            <a:ext cx="533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grpSp>
        <p:nvGrpSpPr>
          <p:cNvPr id="202" name="Google Shape;202;g20321119012_0_0"/>
          <p:cNvGrpSpPr/>
          <p:nvPr/>
        </p:nvGrpSpPr>
        <p:grpSpPr>
          <a:xfrm>
            <a:off x="39452" y="4887289"/>
            <a:ext cx="987900" cy="220441"/>
            <a:chOff x="-906263" y="4991951"/>
            <a:chExt cx="987900" cy="220441"/>
          </a:xfrm>
        </p:grpSpPr>
        <p:pic>
          <p:nvPicPr>
            <p:cNvPr id="203" name="Google Shape;203;g20321119012_0_0" descr="C:\Users\DMS19\Pictures\blue line .png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-561584" y="5039485"/>
              <a:ext cx="298538" cy="17290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4" name="Google Shape;204;g20321119012_0_0"/>
            <p:cNvSpPr txBox="1"/>
            <p:nvPr/>
          </p:nvSpPr>
          <p:spPr>
            <a:xfrm>
              <a:off x="-906263" y="4991951"/>
              <a:ext cx="987900" cy="58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000" b="1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2023</a:t>
              </a:r>
              <a:endParaRPr sz="10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5" name="Google Shape;205;g20321119012_0_0"/>
          <p:cNvSpPr txBox="1"/>
          <p:nvPr/>
        </p:nvSpPr>
        <p:spPr>
          <a:xfrm>
            <a:off x="4688083" y="4869600"/>
            <a:ext cx="41148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>
              <a:buSzPts val="2800"/>
            </a:pPr>
            <a:r>
              <a:rPr lang="en-IN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VERSION CONTROL WITH GIT </a:t>
            </a:r>
          </a:p>
        </p:txBody>
      </p:sp>
      <p:sp>
        <p:nvSpPr>
          <p:cNvPr id="207" name="Google Shape;207;g20321119012_0_0"/>
          <p:cNvSpPr txBox="1"/>
          <p:nvPr/>
        </p:nvSpPr>
        <p:spPr>
          <a:xfrm>
            <a:off x="533400" y="133350"/>
            <a:ext cx="7146000" cy="4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200"/>
              <a:buFont typeface="Calibri"/>
              <a:buNone/>
            </a:pPr>
            <a:r>
              <a:rPr lang="en-IN" sz="2800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DISTRIBUTED VERSION CONTROL</a:t>
            </a:r>
            <a:endParaRPr sz="2800" b="0" i="0" u="none" strike="noStrike" cap="none" dirty="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4400" y="830127"/>
            <a:ext cx="5896800" cy="3899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78761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20321119012_0_0"/>
          <p:cNvSpPr txBox="1">
            <a:spLocks noGrp="1"/>
          </p:cNvSpPr>
          <p:nvPr>
            <p:ph type="sldNum" idx="12"/>
          </p:nvPr>
        </p:nvSpPr>
        <p:spPr>
          <a:xfrm>
            <a:off x="8458200" y="4850606"/>
            <a:ext cx="533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grpSp>
        <p:nvGrpSpPr>
          <p:cNvPr id="202" name="Google Shape;202;g20321119012_0_0"/>
          <p:cNvGrpSpPr/>
          <p:nvPr/>
        </p:nvGrpSpPr>
        <p:grpSpPr>
          <a:xfrm>
            <a:off x="39452" y="4887289"/>
            <a:ext cx="987900" cy="220441"/>
            <a:chOff x="-906263" y="4991951"/>
            <a:chExt cx="987900" cy="220441"/>
          </a:xfrm>
        </p:grpSpPr>
        <p:pic>
          <p:nvPicPr>
            <p:cNvPr id="203" name="Google Shape;203;g20321119012_0_0" descr="C:\Users\DMS19\Pictures\blue line .png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-561584" y="5039485"/>
              <a:ext cx="298538" cy="17290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4" name="Google Shape;204;g20321119012_0_0"/>
            <p:cNvSpPr txBox="1"/>
            <p:nvPr/>
          </p:nvSpPr>
          <p:spPr>
            <a:xfrm>
              <a:off x="-906263" y="4991951"/>
              <a:ext cx="987900" cy="58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000" b="1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2023</a:t>
              </a:r>
              <a:endParaRPr sz="10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5" name="Google Shape;205;g20321119012_0_0"/>
          <p:cNvSpPr txBox="1"/>
          <p:nvPr/>
        </p:nvSpPr>
        <p:spPr>
          <a:xfrm>
            <a:off x="4688083" y="4869600"/>
            <a:ext cx="41148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>
              <a:buSzPts val="2800"/>
            </a:pPr>
            <a:r>
              <a:rPr lang="en-IN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VERSION CONTROL WITH GIT </a:t>
            </a:r>
          </a:p>
        </p:txBody>
      </p:sp>
      <p:sp>
        <p:nvSpPr>
          <p:cNvPr id="206" name="Google Shape;206;g20321119012_0_0"/>
          <p:cNvSpPr txBox="1">
            <a:spLocks noGrp="1"/>
          </p:cNvSpPr>
          <p:nvPr>
            <p:ph type="body" idx="1"/>
          </p:nvPr>
        </p:nvSpPr>
        <p:spPr>
          <a:xfrm>
            <a:off x="0" y="726831"/>
            <a:ext cx="9144000" cy="4123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514350" indent="-285750" algn="just">
              <a:buFont typeface="Arial" panose="020B0604020202020204" pitchFamily="34" charset="0"/>
              <a:buChar char="•"/>
            </a:pPr>
            <a:r>
              <a:rPr lang="en-US" sz="1800" b="1" dirty="0"/>
              <a:t>Repository:</a:t>
            </a:r>
            <a:r>
              <a:rPr lang="en-US" sz="1800" dirty="0"/>
              <a:t> A Git repository is a place where Git stores all the versions of your project's files and directories.</a:t>
            </a:r>
          </a:p>
          <a:p>
            <a:pPr marL="514350" indent="-285750" algn="just">
              <a:buFont typeface="Arial" panose="020B0604020202020204" pitchFamily="34" charset="0"/>
              <a:buChar char="•"/>
            </a:pPr>
            <a:r>
              <a:rPr lang="en-US" sz="1800" b="1" dirty="0"/>
              <a:t>Working Directory: </a:t>
            </a:r>
            <a:r>
              <a:rPr lang="en-US" sz="1800" dirty="0"/>
              <a:t>Where you see files physically and can do modification.</a:t>
            </a:r>
          </a:p>
          <a:p>
            <a:pPr marL="514350" indent="-285750" algn="just">
              <a:buFont typeface="Arial" panose="020B0604020202020204" pitchFamily="34" charset="0"/>
              <a:buChar char="•"/>
            </a:pPr>
            <a:r>
              <a:rPr lang="en-US" sz="1800" b="1" dirty="0"/>
              <a:t>Staging Area (Index): </a:t>
            </a:r>
            <a:r>
              <a:rPr lang="en-US" sz="1800" dirty="0"/>
              <a:t>The staging area is an intermediate area where you can selectively choose which changes to include in your next commit.</a:t>
            </a:r>
          </a:p>
          <a:p>
            <a:pPr marL="514350" indent="-285750" algn="just">
              <a:buFont typeface="Arial" panose="020B0604020202020204" pitchFamily="34" charset="0"/>
              <a:buChar char="•"/>
            </a:pPr>
            <a:r>
              <a:rPr lang="en-US" sz="1800" b="1" dirty="0"/>
              <a:t>Commit: </a:t>
            </a:r>
            <a:r>
              <a:rPr lang="en-US" sz="1800" dirty="0"/>
              <a:t>A commit is a snapshot of your repository at a specific point in time. It records the changes made to the local repository.</a:t>
            </a:r>
          </a:p>
          <a:p>
            <a:pPr marL="514350" indent="-285750" algn="just">
              <a:buFont typeface="Arial" panose="020B0604020202020204" pitchFamily="34" charset="0"/>
              <a:buChar char="•"/>
            </a:pPr>
            <a:r>
              <a:rPr lang="en-US" sz="1800" b="1" dirty="0"/>
              <a:t>Commit Id/Version-Id: </a:t>
            </a:r>
            <a:r>
              <a:rPr lang="en-US" sz="1800" dirty="0"/>
              <a:t>Reference to identify each change.</a:t>
            </a:r>
          </a:p>
          <a:p>
            <a:pPr marL="514350" indent="-285750" algn="just">
              <a:buFont typeface="Arial" panose="020B0604020202020204" pitchFamily="34" charset="0"/>
              <a:buChar char="•"/>
            </a:pPr>
            <a:r>
              <a:rPr lang="en-US" sz="1800" b="1" dirty="0"/>
              <a:t>Snapshot: </a:t>
            </a:r>
            <a:r>
              <a:rPr lang="en-US" sz="1800" dirty="0"/>
              <a:t>Represent some data of particular time. It is always incremental i.e., It stores the changes only, not the entire data.	</a:t>
            </a:r>
          </a:p>
          <a:p>
            <a:pPr marL="514350" indent="-285750" algn="just">
              <a:buFont typeface="Arial" panose="020B0604020202020204" pitchFamily="34" charset="0"/>
              <a:buChar char="•"/>
            </a:pPr>
            <a:r>
              <a:rPr lang="en-US" sz="1800" b="1" dirty="0"/>
              <a:t>Tag: </a:t>
            </a:r>
            <a:r>
              <a:rPr lang="en-US" sz="1800" dirty="0"/>
              <a:t>Tag assign a meaningful name with a specific version in the Repository. It's used to mark significant points in a project's history, such as releases or milestones.</a:t>
            </a:r>
          </a:p>
        </p:txBody>
      </p:sp>
      <p:sp>
        <p:nvSpPr>
          <p:cNvPr id="207" name="Google Shape;207;g20321119012_0_0"/>
          <p:cNvSpPr txBox="1"/>
          <p:nvPr/>
        </p:nvSpPr>
        <p:spPr>
          <a:xfrm>
            <a:off x="533400" y="133350"/>
            <a:ext cx="7146000" cy="4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200"/>
              <a:buFont typeface="Calibri"/>
              <a:buNone/>
            </a:pPr>
            <a:r>
              <a:rPr lang="en-IN" sz="2800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TERMINOLOGIES IN GIT</a:t>
            </a:r>
            <a:endParaRPr sz="2800" b="0" i="0" u="none" strike="noStrike" cap="none" dirty="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409196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20321119012_0_0"/>
          <p:cNvSpPr txBox="1">
            <a:spLocks noGrp="1"/>
          </p:cNvSpPr>
          <p:nvPr>
            <p:ph type="sldNum" idx="12"/>
          </p:nvPr>
        </p:nvSpPr>
        <p:spPr>
          <a:xfrm>
            <a:off x="8458200" y="4850606"/>
            <a:ext cx="533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grpSp>
        <p:nvGrpSpPr>
          <p:cNvPr id="202" name="Google Shape;202;g20321119012_0_0"/>
          <p:cNvGrpSpPr/>
          <p:nvPr/>
        </p:nvGrpSpPr>
        <p:grpSpPr>
          <a:xfrm>
            <a:off x="39452" y="4887289"/>
            <a:ext cx="987900" cy="220441"/>
            <a:chOff x="-906263" y="4991951"/>
            <a:chExt cx="987900" cy="220441"/>
          </a:xfrm>
        </p:grpSpPr>
        <p:pic>
          <p:nvPicPr>
            <p:cNvPr id="203" name="Google Shape;203;g20321119012_0_0" descr="C:\Users\DMS19\Pictures\blue line .png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-561584" y="5039485"/>
              <a:ext cx="298538" cy="17290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4" name="Google Shape;204;g20321119012_0_0"/>
            <p:cNvSpPr txBox="1"/>
            <p:nvPr/>
          </p:nvSpPr>
          <p:spPr>
            <a:xfrm>
              <a:off x="-906263" y="4991951"/>
              <a:ext cx="987900" cy="58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000" b="1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2023</a:t>
              </a:r>
              <a:endParaRPr sz="10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5" name="Google Shape;205;g20321119012_0_0"/>
          <p:cNvSpPr txBox="1"/>
          <p:nvPr/>
        </p:nvSpPr>
        <p:spPr>
          <a:xfrm>
            <a:off x="4688083" y="4869600"/>
            <a:ext cx="41148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>
              <a:buSzPts val="2800"/>
            </a:pPr>
            <a:r>
              <a:rPr lang="en-IN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VERSION CONTROL WITH GIT </a:t>
            </a:r>
          </a:p>
        </p:txBody>
      </p:sp>
      <p:sp>
        <p:nvSpPr>
          <p:cNvPr id="206" name="Google Shape;206;g20321119012_0_0"/>
          <p:cNvSpPr txBox="1">
            <a:spLocks noGrp="1"/>
          </p:cNvSpPr>
          <p:nvPr>
            <p:ph type="body" idx="1"/>
          </p:nvPr>
        </p:nvSpPr>
        <p:spPr>
          <a:xfrm>
            <a:off x="0" y="711200"/>
            <a:ext cx="9144000" cy="41760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514350" indent="-285750" algn="just">
              <a:buFont typeface="Arial" panose="020B0604020202020204" pitchFamily="34" charset="0"/>
              <a:buChar char="•"/>
            </a:pPr>
            <a:r>
              <a:rPr lang="en-US" sz="1800" b="1" dirty="0"/>
              <a:t>Pull: </a:t>
            </a:r>
            <a:r>
              <a:rPr lang="en-US" sz="1800" dirty="0"/>
              <a:t>Pulling is the process of retrieving changes from a remote repository to a Local Machine.</a:t>
            </a:r>
          </a:p>
          <a:p>
            <a:pPr marL="514350" indent="-285750" algn="just">
              <a:buFont typeface="Arial" panose="020B0604020202020204" pitchFamily="34" charset="0"/>
              <a:buChar char="•"/>
            </a:pPr>
            <a:r>
              <a:rPr lang="en-US" sz="1800" b="1" dirty="0"/>
              <a:t>Push: </a:t>
            </a:r>
            <a:r>
              <a:rPr lang="en-US" sz="1800" dirty="0"/>
              <a:t>Pushing is the process of sending your local changes to a remote or Central (global)repository. </a:t>
            </a:r>
          </a:p>
          <a:p>
            <a:pPr marL="514350" indent="-285750" algn="just">
              <a:buFont typeface="Arial" panose="020B0604020202020204" pitchFamily="34" charset="0"/>
              <a:buChar char="•"/>
            </a:pPr>
            <a:r>
              <a:rPr lang="en-US" sz="1800" b="1" dirty="0"/>
              <a:t>Server: </a:t>
            </a:r>
            <a:r>
              <a:rPr lang="en-US" sz="1800" dirty="0"/>
              <a:t>It stores all Repositories.</a:t>
            </a:r>
          </a:p>
          <a:p>
            <a:pPr marL="514350" indent="-285750" algn="just">
              <a:buFont typeface="Arial" panose="020B0604020202020204" pitchFamily="34" charset="0"/>
              <a:buChar char="•"/>
            </a:pPr>
            <a:r>
              <a:rPr lang="en-US" sz="1800" b="1" dirty="0"/>
              <a:t>Branch: </a:t>
            </a:r>
            <a:r>
              <a:rPr lang="en-US" sz="1800" dirty="0"/>
              <a:t>A branch in Git is a parallel version of a codebase that enables multiple developers to work on different aspects of a project simultaneously.</a:t>
            </a:r>
          </a:p>
          <a:p>
            <a:pPr marL="514350" indent="-285750" algn="just">
              <a:buFont typeface="Arial" panose="020B0604020202020204" pitchFamily="34" charset="0"/>
              <a:buChar char="•"/>
            </a:pPr>
            <a:r>
              <a:rPr lang="en-US" sz="1800" b="1" dirty="0"/>
              <a:t>Master (Main) Branch: </a:t>
            </a:r>
            <a:r>
              <a:rPr lang="en-US" sz="1800" dirty="0"/>
              <a:t>The master (or main) branch is the default branch in Git, and it typically represents the latest stable version of the project.</a:t>
            </a:r>
          </a:p>
          <a:p>
            <a:r>
              <a:rPr lang="en-US" sz="1800" b="1" dirty="0"/>
              <a:t>Fork</a:t>
            </a:r>
            <a:r>
              <a:rPr lang="en-US" sz="1800" dirty="0"/>
              <a:t>: Forking a repository creates a copy of it under your account, allowing you to make changes independently of the original repository.</a:t>
            </a:r>
          </a:p>
          <a:p>
            <a:r>
              <a:rPr lang="en-US" sz="1800" b="1" dirty="0"/>
              <a:t>HEAD</a:t>
            </a:r>
            <a:r>
              <a:rPr lang="en-US" sz="1800" dirty="0"/>
              <a:t>: It is a symbolic reference to the currently checked out branch or commit. It represents your current working state.</a:t>
            </a:r>
          </a:p>
        </p:txBody>
      </p:sp>
      <p:sp>
        <p:nvSpPr>
          <p:cNvPr id="207" name="Google Shape;207;g20321119012_0_0"/>
          <p:cNvSpPr txBox="1"/>
          <p:nvPr/>
        </p:nvSpPr>
        <p:spPr>
          <a:xfrm>
            <a:off x="533400" y="133350"/>
            <a:ext cx="7146000" cy="4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200"/>
              <a:buFont typeface="Calibri"/>
              <a:buNone/>
            </a:pPr>
            <a:r>
              <a:rPr lang="en-IN" sz="2800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TERMINOLOGIES IN GIT</a:t>
            </a:r>
            <a:endParaRPr sz="2800" b="0" i="0" u="none" strike="noStrike" cap="none" dirty="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136634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20321119012_0_0"/>
          <p:cNvSpPr txBox="1">
            <a:spLocks noGrp="1"/>
          </p:cNvSpPr>
          <p:nvPr>
            <p:ph type="sldNum" idx="12"/>
          </p:nvPr>
        </p:nvSpPr>
        <p:spPr>
          <a:xfrm>
            <a:off x="8458200" y="4850606"/>
            <a:ext cx="533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grpSp>
        <p:nvGrpSpPr>
          <p:cNvPr id="202" name="Google Shape;202;g20321119012_0_0"/>
          <p:cNvGrpSpPr/>
          <p:nvPr/>
        </p:nvGrpSpPr>
        <p:grpSpPr>
          <a:xfrm>
            <a:off x="39452" y="4887289"/>
            <a:ext cx="987900" cy="220441"/>
            <a:chOff x="-906263" y="4991951"/>
            <a:chExt cx="987900" cy="220441"/>
          </a:xfrm>
        </p:grpSpPr>
        <p:pic>
          <p:nvPicPr>
            <p:cNvPr id="203" name="Google Shape;203;g20321119012_0_0" descr="C:\Users\DMS19\Pictures\blue line .png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-561584" y="5039485"/>
              <a:ext cx="298538" cy="17290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4" name="Google Shape;204;g20321119012_0_0"/>
            <p:cNvSpPr txBox="1"/>
            <p:nvPr/>
          </p:nvSpPr>
          <p:spPr>
            <a:xfrm>
              <a:off x="-906263" y="4991951"/>
              <a:ext cx="987900" cy="58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000" b="1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2023</a:t>
              </a:r>
              <a:endParaRPr sz="10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5" name="Google Shape;205;g20321119012_0_0"/>
          <p:cNvSpPr txBox="1"/>
          <p:nvPr/>
        </p:nvSpPr>
        <p:spPr>
          <a:xfrm>
            <a:off x="4688083" y="4869600"/>
            <a:ext cx="41148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>
              <a:buSzPts val="2800"/>
            </a:pPr>
            <a:r>
              <a:rPr lang="en-IN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VERSION CONTROL WITH GIT </a:t>
            </a:r>
          </a:p>
        </p:txBody>
      </p:sp>
      <p:sp>
        <p:nvSpPr>
          <p:cNvPr id="207" name="Google Shape;207;g20321119012_0_0"/>
          <p:cNvSpPr txBox="1"/>
          <p:nvPr/>
        </p:nvSpPr>
        <p:spPr>
          <a:xfrm>
            <a:off x="533400" y="133350"/>
            <a:ext cx="7146000" cy="4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200"/>
              <a:buFont typeface="Calibri"/>
              <a:buNone/>
            </a:pPr>
            <a:r>
              <a:rPr lang="en-IN" sz="2800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GIT WORKFLOW AND ARCHITECTURE</a:t>
            </a:r>
            <a:endParaRPr sz="2800" b="0" i="0" u="none" strike="noStrike" cap="none" dirty="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9450" y="784813"/>
            <a:ext cx="6088550" cy="4065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32521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20321119012_0_0"/>
          <p:cNvSpPr txBox="1">
            <a:spLocks noGrp="1"/>
          </p:cNvSpPr>
          <p:nvPr>
            <p:ph type="sldNum" idx="12"/>
          </p:nvPr>
        </p:nvSpPr>
        <p:spPr>
          <a:xfrm>
            <a:off x="8458200" y="4850606"/>
            <a:ext cx="533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grpSp>
        <p:nvGrpSpPr>
          <p:cNvPr id="202" name="Google Shape;202;g20321119012_0_0"/>
          <p:cNvGrpSpPr/>
          <p:nvPr/>
        </p:nvGrpSpPr>
        <p:grpSpPr>
          <a:xfrm>
            <a:off x="39452" y="4887289"/>
            <a:ext cx="987900" cy="220441"/>
            <a:chOff x="-906263" y="4991951"/>
            <a:chExt cx="987900" cy="220441"/>
          </a:xfrm>
        </p:grpSpPr>
        <p:pic>
          <p:nvPicPr>
            <p:cNvPr id="203" name="Google Shape;203;g20321119012_0_0" descr="C:\Users\DMS19\Pictures\blue line .png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-561584" y="5039485"/>
              <a:ext cx="298538" cy="17290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4" name="Google Shape;204;g20321119012_0_0"/>
            <p:cNvSpPr txBox="1"/>
            <p:nvPr/>
          </p:nvSpPr>
          <p:spPr>
            <a:xfrm>
              <a:off x="-906263" y="4991951"/>
              <a:ext cx="987900" cy="58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000" b="1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2023</a:t>
              </a:r>
              <a:endParaRPr sz="10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5" name="Google Shape;205;g20321119012_0_0"/>
          <p:cNvSpPr txBox="1"/>
          <p:nvPr/>
        </p:nvSpPr>
        <p:spPr>
          <a:xfrm>
            <a:off x="4688083" y="4869600"/>
            <a:ext cx="41148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>
              <a:buSzPts val="2800"/>
            </a:pPr>
            <a:r>
              <a:rPr lang="en-IN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VERSION CONTROL WITH GIT </a:t>
            </a:r>
          </a:p>
        </p:txBody>
      </p:sp>
      <p:sp>
        <p:nvSpPr>
          <p:cNvPr id="206" name="Google Shape;206;g20321119012_0_0"/>
          <p:cNvSpPr txBox="1">
            <a:spLocks noGrp="1"/>
          </p:cNvSpPr>
          <p:nvPr>
            <p:ph type="body" idx="1"/>
          </p:nvPr>
        </p:nvSpPr>
        <p:spPr>
          <a:xfrm>
            <a:off x="0" y="726831"/>
            <a:ext cx="9144000" cy="41604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514350" indent="-285750" algn="just">
              <a:buFont typeface="Arial" panose="020B0604020202020204" pitchFamily="34" charset="0"/>
              <a:buChar char="•"/>
            </a:pPr>
            <a:r>
              <a:rPr lang="en-US" sz="1800" b="1" dirty="0"/>
              <a:t>Git </a:t>
            </a:r>
            <a:r>
              <a:rPr lang="en-US" sz="1800" b="1" dirty="0" err="1"/>
              <a:t>Config</a:t>
            </a:r>
            <a:r>
              <a:rPr lang="en-US" sz="1800" b="1" dirty="0"/>
              <a:t>:- </a:t>
            </a:r>
            <a:r>
              <a:rPr lang="en-US" sz="1800" dirty="0"/>
              <a:t>This command sets the author name and email address to be used with your commits.</a:t>
            </a:r>
          </a:p>
          <a:p>
            <a:pPr marL="514350" indent="-285750" algn="just">
              <a:buFont typeface="Arial" panose="020B0604020202020204" pitchFamily="34" charset="0"/>
              <a:buChar char="•"/>
            </a:pPr>
            <a:r>
              <a:rPr lang="en-US" sz="1800" b="1" dirty="0"/>
              <a:t>Git </a:t>
            </a:r>
            <a:r>
              <a:rPr lang="en-US" sz="1800" b="1" dirty="0" err="1"/>
              <a:t>init</a:t>
            </a:r>
            <a:r>
              <a:rPr lang="en-US" sz="1800" b="1" dirty="0"/>
              <a:t>:- </a:t>
            </a:r>
            <a:r>
              <a:rPr lang="en-US" sz="1800" dirty="0"/>
              <a:t>This command is used to initialize a local repository.</a:t>
            </a:r>
          </a:p>
          <a:p>
            <a:pPr marL="514350" indent="-285750" algn="just">
              <a:buFont typeface="Arial" panose="020B0604020202020204" pitchFamily="34" charset="0"/>
              <a:buChar char="•"/>
            </a:pPr>
            <a:r>
              <a:rPr lang="en-US" sz="1800" b="1" dirty="0"/>
              <a:t>Git add:- </a:t>
            </a:r>
            <a:r>
              <a:rPr lang="en-US" sz="1800" dirty="0"/>
              <a:t>This command is used to add one or more files to staging (Index) area.</a:t>
            </a:r>
          </a:p>
          <a:p>
            <a:pPr marL="514350" indent="-285750" algn="just">
              <a:buFont typeface="Arial" panose="020B0604020202020204" pitchFamily="34" charset="0"/>
              <a:buChar char="•"/>
            </a:pPr>
            <a:r>
              <a:rPr lang="en-US" sz="1800" b="1" dirty="0"/>
              <a:t>Git commit -m:- </a:t>
            </a:r>
            <a:r>
              <a:rPr lang="en-US" sz="1800" dirty="0"/>
              <a:t>This command create snapshots of the file permanently in the version history with a message.</a:t>
            </a:r>
          </a:p>
          <a:p>
            <a:pPr marL="514350" indent="-285750" algn="just">
              <a:buFont typeface="Arial" panose="020B0604020202020204" pitchFamily="34" charset="0"/>
              <a:buChar char="•"/>
            </a:pPr>
            <a:r>
              <a:rPr lang="en-US" sz="1800" b="1" dirty="0"/>
              <a:t>Git Status:- </a:t>
            </a:r>
            <a:r>
              <a:rPr lang="en-US" sz="1800" dirty="0"/>
              <a:t>The status command is used to display the state of the working directory and the staging area.</a:t>
            </a:r>
          </a:p>
          <a:p>
            <a:pPr marL="514350" indent="-285750" algn="just">
              <a:buFont typeface="Arial" panose="020B0604020202020204" pitchFamily="34" charset="0"/>
              <a:buChar char="•"/>
            </a:pPr>
            <a:r>
              <a:rPr lang="en-US" sz="1800" b="1" dirty="0"/>
              <a:t>Git push:- </a:t>
            </a:r>
            <a:r>
              <a:rPr lang="en-US" sz="1800" dirty="0"/>
              <a:t>This command is used to upload local repository content to a remote repository.</a:t>
            </a:r>
          </a:p>
          <a:p>
            <a:pPr marL="514350" indent="-285750" algn="just">
              <a:buFont typeface="Arial" panose="020B0604020202020204" pitchFamily="34" charset="0"/>
              <a:buChar char="•"/>
            </a:pPr>
            <a:r>
              <a:rPr lang="en-US" sz="1800" b="1" dirty="0"/>
              <a:t>Git pull:- </a:t>
            </a:r>
            <a:r>
              <a:rPr lang="en-US" sz="1800" dirty="0"/>
              <a:t>This command is used to receive data from GitHub. It fetches and merges changes on the remote server to your working directory.</a:t>
            </a:r>
          </a:p>
        </p:txBody>
      </p:sp>
      <p:sp>
        <p:nvSpPr>
          <p:cNvPr id="207" name="Google Shape;207;g20321119012_0_0"/>
          <p:cNvSpPr txBox="1"/>
          <p:nvPr/>
        </p:nvSpPr>
        <p:spPr>
          <a:xfrm>
            <a:off x="533400" y="133350"/>
            <a:ext cx="7146000" cy="4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200"/>
              <a:buFont typeface="Calibri"/>
              <a:buNone/>
            </a:pPr>
            <a:r>
              <a:rPr lang="en-IN" sz="2800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IMPORTANT COMMANDS IN GIT</a:t>
            </a:r>
            <a:endParaRPr sz="2800" b="0" i="0" u="none" strike="noStrike" cap="none" dirty="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183971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20321119012_0_0"/>
          <p:cNvSpPr txBox="1">
            <a:spLocks noGrp="1"/>
          </p:cNvSpPr>
          <p:nvPr>
            <p:ph type="sldNum" idx="12"/>
          </p:nvPr>
        </p:nvSpPr>
        <p:spPr>
          <a:xfrm>
            <a:off x="8458200" y="4850606"/>
            <a:ext cx="533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grpSp>
        <p:nvGrpSpPr>
          <p:cNvPr id="202" name="Google Shape;202;g20321119012_0_0"/>
          <p:cNvGrpSpPr/>
          <p:nvPr/>
        </p:nvGrpSpPr>
        <p:grpSpPr>
          <a:xfrm>
            <a:off x="39452" y="4887289"/>
            <a:ext cx="987900" cy="220441"/>
            <a:chOff x="-906263" y="4991951"/>
            <a:chExt cx="987900" cy="220441"/>
          </a:xfrm>
        </p:grpSpPr>
        <p:pic>
          <p:nvPicPr>
            <p:cNvPr id="203" name="Google Shape;203;g20321119012_0_0" descr="C:\Users\DMS19\Pictures\blue line .png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-561584" y="5039485"/>
              <a:ext cx="298538" cy="17290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4" name="Google Shape;204;g20321119012_0_0"/>
            <p:cNvSpPr txBox="1"/>
            <p:nvPr/>
          </p:nvSpPr>
          <p:spPr>
            <a:xfrm>
              <a:off x="-906263" y="4991951"/>
              <a:ext cx="987900" cy="58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000" b="1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2023</a:t>
              </a:r>
              <a:endParaRPr sz="10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5" name="Google Shape;205;g20321119012_0_0"/>
          <p:cNvSpPr txBox="1"/>
          <p:nvPr/>
        </p:nvSpPr>
        <p:spPr>
          <a:xfrm>
            <a:off x="4688083" y="4869600"/>
            <a:ext cx="41148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>
              <a:buSzPts val="2800"/>
            </a:pPr>
            <a:r>
              <a:rPr lang="en-IN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VERSION CONTROL WITH GIT </a:t>
            </a:r>
          </a:p>
        </p:txBody>
      </p:sp>
      <p:sp>
        <p:nvSpPr>
          <p:cNvPr id="207" name="Google Shape;207;g20321119012_0_0"/>
          <p:cNvSpPr txBox="1"/>
          <p:nvPr/>
        </p:nvSpPr>
        <p:spPr>
          <a:xfrm>
            <a:off x="533400" y="133350"/>
            <a:ext cx="7146000" cy="4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Clr>
                <a:srgbClr val="0070C0"/>
              </a:buClr>
              <a:buSzPts val="3200"/>
            </a:pPr>
            <a:r>
              <a:rPr lang="en-IN" sz="2800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GIT BRANCHING, TAGGING AND MERGING</a:t>
            </a:r>
            <a:endParaRPr sz="2800" b="0" i="0" u="none" strike="noStrike" cap="none" dirty="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669" y="1307730"/>
            <a:ext cx="7924800" cy="3086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26113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20321119012_0_0"/>
          <p:cNvSpPr txBox="1">
            <a:spLocks noGrp="1"/>
          </p:cNvSpPr>
          <p:nvPr>
            <p:ph type="sldNum" idx="12"/>
          </p:nvPr>
        </p:nvSpPr>
        <p:spPr>
          <a:xfrm>
            <a:off x="8458200" y="4850606"/>
            <a:ext cx="533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en-US"/>
              <a:t>10</a:t>
            </a:fld>
            <a:endParaRPr dirty="0"/>
          </a:p>
        </p:txBody>
      </p:sp>
      <p:grpSp>
        <p:nvGrpSpPr>
          <p:cNvPr id="202" name="Google Shape;202;g20321119012_0_0"/>
          <p:cNvGrpSpPr/>
          <p:nvPr/>
        </p:nvGrpSpPr>
        <p:grpSpPr>
          <a:xfrm>
            <a:off x="39452" y="4887289"/>
            <a:ext cx="987900" cy="220441"/>
            <a:chOff x="-906263" y="4991951"/>
            <a:chExt cx="987900" cy="220441"/>
          </a:xfrm>
        </p:grpSpPr>
        <p:pic>
          <p:nvPicPr>
            <p:cNvPr id="203" name="Google Shape;203;g20321119012_0_0" descr="C:\Users\DMS19\Pictures\blue line .png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-561584" y="5039485"/>
              <a:ext cx="298538" cy="17290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4" name="Google Shape;204;g20321119012_0_0"/>
            <p:cNvSpPr txBox="1"/>
            <p:nvPr/>
          </p:nvSpPr>
          <p:spPr>
            <a:xfrm>
              <a:off x="-906263" y="4991951"/>
              <a:ext cx="987900" cy="58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000" b="1" i="0" u="none" strike="noStrike" cap="none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2023</a:t>
              </a:r>
              <a:endParaRPr sz="10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5" name="Google Shape;205;g20321119012_0_0"/>
          <p:cNvSpPr txBox="1"/>
          <p:nvPr/>
        </p:nvSpPr>
        <p:spPr>
          <a:xfrm>
            <a:off x="4688083" y="4869600"/>
            <a:ext cx="41148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>
              <a:buSzPts val="2800"/>
            </a:pPr>
            <a:r>
              <a:rPr lang="en-IN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VERSION CONTROL WITH GIT </a:t>
            </a:r>
          </a:p>
        </p:txBody>
      </p:sp>
      <p:sp>
        <p:nvSpPr>
          <p:cNvPr id="206" name="Google Shape;206;g20321119012_0_0"/>
          <p:cNvSpPr txBox="1">
            <a:spLocks noGrp="1"/>
          </p:cNvSpPr>
          <p:nvPr>
            <p:ph type="body" idx="1"/>
          </p:nvPr>
        </p:nvSpPr>
        <p:spPr>
          <a:xfrm>
            <a:off x="0" y="723900"/>
            <a:ext cx="9144000" cy="41633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514350" indent="-285750" algn="just">
              <a:buFont typeface="Arial" panose="020B0604020202020204" pitchFamily="34" charset="0"/>
              <a:buChar char="•"/>
            </a:pPr>
            <a:r>
              <a:rPr lang="en-US" sz="1800" b="1" dirty="0"/>
              <a:t>Branching</a:t>
            </a:r>
            <a:r>
              <a:rPr lang="en-US" sz="1800" dirty="0"/>
              <a:t> in Git allows you to create separate lines of development for features, bug fixes, or experiments, while keeping your main codebase (usually in the master branch) stable.</a:t>
            </a:r>
          </a:p>
          <a:p>
            <a:pPr marL="514350" indent="-285750" algn="just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971550" lvl="1" indent="-285750" algn="just">
              <a:buFont typeface="Arial" panose="020B0604020202020204" pitchFamily="34" charset="0"/>
              <a:buChar char="•"/>
            </a:pPr>
            <a:r>
              <a:rPr lang="en-US" sz="1400" dirty="0">
                <a:latin typeface="+mn-lt"/>
                <a:cs typeface="Calibri" panose="020F0502020204030204" pitchFamily="34" charset="0"/>
              </a:rPr>
              <a:t>To Create a new branch: git branch new-feature </a:t>
            </a:r>
          </a:p>
          <a:p>
            <a:pPr marL="971550" lvl="1" indent="-285750" algn="just">
              <a:buFont typeface="Arial" panose="020B0604020202020204" pitchFamily="34" charset="0"/>
              <a:buChar char="•"/>
            </a:pPr>
            <a:r>
              <a:rPr lang="en-US" sz="1400" dirty="0">
                <a:latin typeface="+mn-lt"/>
                <a:cs typeface="Calibri" panose="020F0502020204030204" pitchFamily="34" charset="0"/>
              </a:rPr>
              <a:t>To Switch to the new branch: git checkout new-feature</a:t>
            </a:r>
            <a:endParaRPr lang="en-US" sz="1400" dirty="0">
              <a:latin typeface="+mn-lt"/>
            </a:endParaRPr>
          </a:p>
          <a:p>
            <a:pPr marL="514350" indent="-285750" algn="just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514350" indent="-285750" algn="just">
              <a:buFont typeface="Arial" panose="020B0604020202020204" pitchFamily="34" charset="0"/>
              <a:buChar char="•"/>
            </a:pPr>
            <a:r>
              <a:rPr lang="en-US" sz="1800" dirty="0"/>
              <a:t>Git </a:t>
            </a:r>
            <a:r>
              <a:rPr lang="en-US" sz="1800" b="1" dirty="0"/>
              <a:t>tagging</a:t>
            </a:r>
            <a:r>
              <a:rPr lang="en-US" sz="1800" dirty="0"/>
              <a:t> is a way to mark specific points in your Git history, often used to identify releases or important milestones in the project.</a:t>
            </a:r>
          </a:p>
          <a:p>
            <a:pPr marL="514350" indent="-285750" algn="just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514350" indent="-285750" algn="just">
              <a:buFont typeface="Arial" panose="020B0604020202020204" pitchFamily="34" charset="0"/>
              <a:buChar char="•"/>
            </a:pPr>
            <a:r>
              <a:rPr lang="en-US" sz="1800" b="1" dirty="0"/>
              <a:t>Merging</a:t>
            </a:r>
            <a:r>
              <a:rPr lang="en-US" sz="1800" dirty="0"/>
              <a:t> in Git is the process of combining changes from one branch into another. This is commonly used to integrate feature branches into the main codebase i.e., to master branch.</a:t>
            </a:r>
          </a:p>
          <a:p>
            <a:pPr marL="685800" lvl="1" indent="0" algn="just">
              <a:buNone/>
            </a:pPr>
            <a:endParaRPr lang="en-US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7" name="Google Shape;207;g20321119012_0_0"/>
          <p:cNvSpPr txBox="1"/>
          <p:nvPr/>
        </p:nvSpPr>
        <p:spPr>
          <a:xfrm>
            <a:off x="533400" y="133350"/>
            <a:ext cx="7146000" cy="4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Clr>
                <a:srgbClr val="0070C0"/>
              </a:buClr>
              <a:buSzPts val="3200"/>
            </a:pPr>
            <a:r>
              <a:rPr lang="en-US" sz="2800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GIT BRANCHING, TAGGING AND MERGING</a:t>
            </a:r>
          </a:p>
        </p:txBody>
      </p:sp>
    </p:spTree>
    <p:extLst>
      <p:ext uri="{BB962C8B-B14F-4D97-AF65-F5344CB8AC3E}">
        <p14:creationId xmlns:p14="http://schemas.microsoft.com/office/powerpoint/2010/main" val="17625472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20321119012_0_0"/>
          <p:cNvSpPr txBox="1">
            <a:spLocks noGrp="1"/>
          </p:cNvSpPr>
          <p:nvPr>
            <p:ph type="sldNum" idx="12"/>
          </p:nvPr>
        </p:nvSpPr>
        <p:spPr>
          <a:xfrm>
            <a:off x="8458200" y="4850606"/>
            <a:ext cx="533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en-US"/>
              <a:t>11</a:t>
            </a:fld>
            <a:endParaRPr dirty="0"/>
          </a:p>
        </p:txBody>
      </p:sp>
      <p:grpSp>
        <p:nvGrpSpPr>
          <p:cNvPr id="202" name="Google Shape;202;g20321119012_0_0"/>
          <p:cNvGrpSpPr/>
          <p:nvPr/>
        </p:nvGrpSpPr>
        <p:grpSpPr>
          <a:xfrm>
            <a:off x="39452" y="4887289"/>
            <a:ext cx="987900" cy="220441"/>
            <a:chOff x="-906263" y="4991951"/>
            <a:chExt cx="987900" cy="220441"/>
          </a:xfrm>
        </p:grpSpPr>
        <p:pic>
          <p:nvPicPr>
            <p:cNvPr id="203" name="Google Shape;203;g20321119012_0_0" descr="C:\Users\DMS19\Pictures\blue line .png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-561584" y="5039485"/>
              <a:ext cx="298538" cy="17290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4" name="Google Shape;204;g20321119012_0_0"/>
            <p:cNvSpPr txBox="1"/>
            <p:nvPr/>
          </p:nvSpPr>
          <p:spPr>
            <a:xfrm>
              <a:off x="-906263" y="4991951"/>
              <a:ext cx="987900" cy="58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000" b="1" i="0" u="none" strike="noStrike" cap="none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2023</a:t>
              </a:r>
              <a:endParaRPr sz="10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5" name="Google Shape;205;g20321119012_0_0"/>
          <p:cNvSpPr txBox="1"/>
          <p:nvPr/>
        </p:nvSpPr>
        <p:spPr>
          <a:xfrm>
            <a:off x="4688083" y="4869600"/>
            <a:ext cx="41148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>
              <a:buSzPts val="2800"/>
            </a:pPr>
            <a:r>
              <a:rPr lang="en-IN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VERSION CONTROL WITH GIT </a:t>
            </a:r>
          </a:p>
        </p:txBody>
      </p:sp>
      <p:sp>
        <p:nvSpPr>
          <p:cNvPr id="206" name="Google Shape;206;g20321119012_0_0"/>
          <p:cNvSpPr txBox="1">
            <a:spLocks noGrp="1"/>
          </p:cNvSpPr>
          <p:nvPr>
            <p:ph type="body" idx="1"/>
          </p:nvPr>
        </p:nvSpPr>
        <p:spPr>
          <a:xfrm>
            <a:off x="158400" y="921600"/>
            <a:ext cx="8833200" cy="38034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514350" indent="-285750" algn="just">
              <a:buFont typeface="Arial" panose="020B0604020202020204" pitchFamily="34" charset="0"/>
              <a:buChar char="•"/>
            </a:pPr>
            <a:r>
              <a:rPr lang="en-US" sz="1800" b="1" dirty="0"/>
              <a:t>Free and Open Source:- </a:t>
            </a:r>
            <a:r>
              <a:rPr lang="en-US" sz="1800" dirty="0"/>
              <a:t>Its free and Open Source Service.</a:t>
            </a:r>
            <a:endParaRPr lang="en-US" sz="1800" b="1" dirty="0"/>
          </a:p>
          <a:p>
            <a:pPr marL="514350" indent="-285750" algn="just">
              <a:buFont typeface="Arial" panose="020B0604020202020204" pitchFamily="34" charset="0"/>
              <a:buChar char="•"/>
            </a:pPr>
            <a:r>
              <a:rPr lang="en-US" sz="1800" b="1" dirty="0"/>
              <a:t>Fast and Small:- </a:t>
            </a:r>
            <a:r>
              <a:rPr lang="en-US" sz="1800" dirty="0"/>
              <a:t>As most of the operations are performed locally, therefore it is fast.</a:t>
            </a:r>
            <a:endParaRPr lang="en-US" sz="1800" b="1" dirty="0"/>
          </a:p>
          <a:p>
            <a:pPr marL="514350" indent="-285750" algn="just">
              <a:buFont typeface="Arial" panose="020B0604020202020204" pitchFamily="34" charset="0"/>
              <a:buChar char="•"/>
            </a:pPr>
            <a:r>
              <a:rPr lang="en-US" sz="1800" b="1" dirty="0"/>
              <a:t>Security:- </a:t>
            </a:r>
            <a:r>
              <a:rPr lang="en-US" sz="1800" dirty="0"/>
              <a:t>git uses a common Cryptographic hash function called Secure hash function(SHA1), So it’s very Secure.</a:t>
            </a:r>
            <a:endParaRPr lang="en-US" sz="1800" b="1" dirty="0"/>
          </a:p>
          <a:p>
            <a:pPr marL="514350" indent="-285750" algn="just">
              <a:buFont typeface="Arial" panose="020B0604020202020204" pitchFamily="34" charset="0"/>
              <a:buChar char="•"/>
            </a:pPr>
            <a:r>
              <a:rPr lang="en-US" sz="1800" b="1" dirty="0"/>
              <a:t>No-need of Powerful Hardware:- </a:t>
            </a:r>
            <a:r>
              <a:rPr lang="en-US" sz="1800" dirty="0"/>
              <a:t>With Git, we can easily work with large codebases, collaborate with other developers, and manage complex branching and merging workflows, all without needing a powerful machine.</a:t>
            </a:r>
            <a:endParaRPr lang="en-US" sz="1800" b="1" dirty="0"/>
          </a:p>
          <a:p>
            <a:pPr marL="228600" indent="0" algn="just">
              <a:buNone/>
            </a:pPr>
            <a:endParaRPr lang="en-US" sz="1800" b="1" dirty="0"/>
          </a:p>
        </p:txBody>
      </p:sp>
      <p:sp>
        <p:nvSpPr>
          <p:cNvPr id="207" name="Google Shape;207;g20321119012_0_0"/>
          <p:cNvSpPr txBox="1"/>
          <p:nvPr/>
        </p:nvSpPr>
        <p:spPr>
          <a:xfrm>
            <a:off x="533400" y="133350"/>
            <a:ext cx="7146000" cy="4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200"/>
              <a:buFont typeface="Calibri"/>
              <a:buNone/>
            </a:pPr>
            <a:r>
              <a:rPr lang="en-IN" sz="2800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ADVANTAGES OF USING GITHUB</a:t>
            </a:r>
            <a:endParaRPr sz="2800" b="0" i="0" u="none" strike="noStrike" cap="none" dirty="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356238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798</TotalTime>
  <Words>929</Words>
  <Application>Microsoft Office PowerPoint</Application>
  <PresentationFormat>On-screen Show (16:9)</PresentationFormat>
  <Paragraphs>87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Ashok HOME</dc:creator>
  <cp:lastModifiedBy>Syed Akbar</cp:lastModifiedBy>
  <cp:revision>30</cp:revision>
  <dcterms:created xsi:type="dcterms:W3CDTF">2006-08-16T00:00:00Z</dcterms:created>
  <dcterms:modified xsi:type="dcterms:W3CDTF">2025-08-25T15:14:49Z</dcterms:modified>
</cp:coreProperties>
</file>